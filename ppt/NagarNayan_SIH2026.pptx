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932688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1B3A6B"/>
                </a:solidFill>
                <a:latin typeface="Times New Roman"/>
              </a:rPr>
              <a:t>SMART INDIA HACKATHON 2026</a:t>
            </a:r>
          </a:p>
        </p:txBody>
      </p:sp>
      <p:sp>
        <p:nvSpPr>
          <p:cNvPr id="3" name="Hexagon 2"/>
          <p:cNvSpPr/>
          <p:nvPr/>
        </p:nvSpPr>
        <p:spPr>
          <a:xfrm>
            <a:off x="9966960" y="228600"/>
            <a:ext cx="1417320" cy="1325880"/>
          </a:xfrm>
          <a:prstGeom prst="hexagon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68128" y="484632"/>
            <a:ext cx="457200" cy="566928"/>
          </a:xfrm>
          <a:prstGeom prst="ellipse">
            <a:avLst/>
          </a:prstGeom>
          <a:solidFill>
            <a:srgbClr val="F2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43616" y="484632"/>
            <a:ext cx="457200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51008" y="1124712"/>
            <a:ext cx="64008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200" b="1">
                <a:solidFill>
                  <a:srgbClr val="4A5A6A"/>
                </a:solidFill>
                <a:latin typeface="Calibri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320040"/>
            <a:ext cx="1828800" cy="82296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4A5A6A"/>
                </a:solidFill>
                <a:latin typeface="Calibri"/>
              </a:rPr>
              <a:t>SMART INDIA
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4A5A6A"/>
                </a:solidFill>
                <a:latin typeface="Calibri"/>
              </a:rPr>
              <a:t>HACKATHON
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4A5A6A"/>
                </a:solidFill>
                <a:latin typeface="Calibri"/>
              </a:rPr>
              <a:t>2026</a:t>
            </a:r>
          </a:p>
        </p:txBody>
      </p:sp>
      <p:sp>
        <p:nvSpPr>
          <p:cNvPr id="8" name="Hexagon 7"/>
          <p:cNvSpPr/>
          <p:nvPr/>
        </p:nvSpPr>
        <p:spPr>
          <a:xfrm>
            <a:off x="7863840" y="1463040"/>
            <a:ext cx="4023360" cy="4206240"/>
          </a:xfrm>
          <a:prstGeom prst="hexagon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49640" y="2148840"/>
            <a:ext cx="1188720" cy="1600200"/>
          </a:xfrm>
          <a:prstGeom prst="ellipse">
            <a:avLst/>
          </a:prstGeom>
          <a:solidFill>
            <a:srgbClr val="F2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46920" y="2148840"/>
            <a:ext cx="1188720" cy="1600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 1 0 1
1 0 1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0" y="3886200"/>
            <a:ext cx="14173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2200" b="1">
                <a:solidFill>
                  <a:srgbClr val="4A5A6A"/>
                </a:solidFill>
                <a:latin typeface="Calibri"/>
              </a:rPr>
              <a:t>SIH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234440"/>
            <a:ext cx="60350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202020"/>
                </a:solidFill>
                <a:latin typeface="Times New Roman"/>
              </a:rPr>
              <a:t>TITLE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40280"/>
            <a:ext cx="6949440" cy="3657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202020"/>
                </a:solidFill>
                <a:latin typeface="Calibri"/>
              </a:rPr>
              <a:t>Problem Statement ID – </a:t>
            </a:r>
            <a:r>
              <a:rPr sz="2000" b="0" i="0">
                <a:solidFill>
                  <a:srgbClr val="202020"/>
                </a:solidFill>
                <a:latin typeface="Calibri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202020"/>
                </a:solidFill>
                <a:latin typeface="Calibri"/>
              </a:rPr>
              <a:t>Problem Statement Title – </a:t>
            </a:r>
            <a:r>
              <a:rPr sz="2000" b="0" i="0">
                <a:solidFill>
                  <a:srgbClr val="202020"/>
                </a:solidFill>
                <a:latin typeface="Calibri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202020"/>
                </a:solidFill>
                <a:latin typeface="Calibri"/>
              </a:rPr>
              <a:t>Theme – </a:t>
            </a:r>
            <a:r>
              <a:rPr sz="2000" b="0" i="0">
                <a:solidFill>
                  <a:srgbClr val="202020"/>
                </a:solidFill>
                <a:latin typeface="Calibri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202020"/>
                </a:solidFill>
                <a:latin typeface="Calibri"/>
              </a:rPr>
              <a:t>PS Category – Software</a:t>
            </a:r>
            <a:r>
              <a:rPr sz="2000" b="0" i="0">
                <a:solidFill>
                  <a:srgbClr val="202020"/>
                </a:solidFill>
                <a:latin typeface="Calibri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202020"/>
                </a:solidFill>
                <a:latin typeface="Calibri"/>
              </a:rPr>
              <a:t>Team ID – </a:t>
            </a:r>
            <a:r>
              <a:rPr sz="2000" b="0" i="0">
                <a:solidFill>
                  <a:srgbClr val="202020"/>
                </a:solidFill>
                <a:latin typeface="Calibri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202020"/>
                </a:solidFill>
                <a:latin typeface="Calibri"/>
              </a:rPr>
              <a:t>Team Name – </a:t>
            </a:r>
            <a:r>
              <a:rPr sz="2000" b="0" i="0">
                <a:solidFill>
                  <a:srgbClr val="202020"/>
                </a:solidFill>
                <a:latin typeface="Calibr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897880"/>
            <a:ext cx="5669280" cy="457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500" b="1">
                <a:solidFill>
                  <a:srgbClr val="1F63B0"/>
                </a:solidFill>
                <a:latin typeface="Calibri"/>
              </a:rPr>
              <a:t>Every Bus Becomes an Eye on the City.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" y="137160"/>
            <a:ext cx="14173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200" b="0">
                <a:solidFill>
                  <a:srgbClr val="4A5A6A"/>
                </a:solidFill>
                <a:latin typeface="Calibri"/>
              </a:rPr>
              <a:t>Your Team
Name</a:t>
            </a:r>
          </a:p>
        </p:txBody>
      </p:sp>
      <p:sp>
        <p:nvSpPr>
          <p:cNvPr id="3" name="Hexagon 2"/>
          <p:cNvSpPr/>
          <p:nvPr/>
        </p:nvSpPr>
        <p:spPr>
          <a:xfrm>
            <a:off x="10012680" y="164592"/>
            <a:ext cx="1204722" cy="1126998"/>
          </a:xfrm>
          <a:prstGeom prst="hexagon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83672" y="382219"/>
            <a:ext cx="388620" cy="481888"/>
          </a:xfrm>
          <a:prstGeom prst="ellipse">
            <a:avLst/>
          </a:prstGeom>
          <a:solidFill>
            <a:srgbClr val="F2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87837" y="382219"/>
            <a:ext cx="388620" cy="4818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9120" y="926287"/>
            <a:ext cx="544068" cy="2487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200" b="1">
                <a:solidFill>
                  <a:srgbClr val="4A5A6A"/>
                </a:solidFill>
                <a:latin typeface="Calibri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5126" y="242316"/>
            <a:ext cx="1554480" cy="699516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19" b="1" i="0">
                <a:solidFill>
                  <a:srgbClr val="4A5A6A"/>
                </a:solidFill>
                <a:latin typeface="Calibri"/>
              </a:rPr>
              <a:t>SMART INDIA
</a:t>
            </a:r>
          </a:p>
          <a:p>
            <a:pPr algn="l">
              <a:spcAft>
                <a:spcPts val="400"/>
              </a:spcAft>
            </a:pPr>
            <a:r>
              <a:rPr sz="1019" b="1" i="0">
                <a:solidFill>
                  <a:srgbClr val="4A5A6A"/>
                </a:solidFill>
                <a:latin typeface="Calibri"/>
              </a:rPr>
              <a:t>HACKATHON
</a:t>
            </a:r>
          </a:p>
          <a:p>
            <a:pPr algn="l">
              <a:spcAft>
                <a:spcPts val="400"/>
              </a:spcAft>
            </a:pPr>
            <a:r>
              <a:rPr sz="1019" b="1" i="0">
                <a:solidFill>
                  <a:srgbClr val="4A5A6A"/>
                </a:solidFill>
                <a:latin typeface="Calibri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5720"/>
            <a:ext cx="82296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202020"/>
                </a:solidFill>
                <a:latin typeface="Times New Roman"/>
              </a:rPr>
              <a:t>NAGAR NAYAN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66928"/>
            <a:ext cx="82296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 i="1">
                <a:solidFill>
                  <a:srgbClr val="202020"/>
                </a:solidFill>
                <a:latin typeface="Calibri"/>
              </a:rPr>
              <a:t>Eyes of the City — AI-Powered Mobile Urban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097280"/>
            <a:ext cx="5120640" cy="502920"/>
          </a:xfrm>
          <a:prstGeom prst="round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Proposed Solution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078992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202020"/>
                </a:solidFill>
                <a:latin typeface="Calibri"/>
              </a:rPr>
              <a:t>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737360"/>
            <a:ext cx="5120640" cy="3246120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800"/>
            <a:ext cx="4754880" cy="3108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The Problem: 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Cities depend on fixed CCTV cameras with limited coverage, manual road inspections and citizen complaints — causing incomplete city-wide visibility and slow response.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Our Solution: 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Nagar Nayan transforms existing public bus cameras into a distributed AI urban sensing network that continuously detects road, traffic, infrastructure and safety events.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Detected Events: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94760"/>
            <a:ext cx="1536192" cy="411480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050" b="1">
                <a:solidFill>
                  <a:srgbClr val="202020"/>
                </a:solidFill>
                <a:latin typeface="Calibri"/>
              </a:rPr>
              <a:t>🕳 Road Defects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13432" y="3794760"/>
            <a:ext cx="1536192" cy="411480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050" b="1">
                <a:solidFill>
                  <a:srgbClr val="202020"/>
                </a:solidFill>
                <a:latin typeface="Calibri"/>
              </a:rPr>
              <a:t>🌊 Waterlogging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41064" y="3794760"/>
            <a:ext cx="1536192" cy="411480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050" b="1">
                <a:solidFill>
                  <a:srgbClr val="202020"/>
                </a:solidFill>
                <a:latin typeface="Calibri"/>
              </a:rPr>
              <a:t>🚦 Infrastructure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97680"/>
            <a:ext cx="1536192" cy="411480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050" b="1">
                <a:solidFill>
                  <a:srgbClr val="202020"/>
                </a:solidFill>
                <a:latin typeface="Calibri"/>
              </a:rPr>
              <a:t>🚗 Traffic Jams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13432" y="4297680"/>
            <a:ext cx="1536192" cy="411480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050" b="1">
                <a:solidFill>
                  <a:srgbClr val="202020"/>
                </a:solidFill>
                <a:latin typeface="Calibri"/>
              </a:rPr>
              <a:t>🚶 Pedestrian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41064" y="4297680"/>
            <a:ext cx="1536192" cy="411480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050" b="1">
                <a:solidFill>
                  <a:srgbClr val="202020"/>
                </a:solidFill>
                <a:latin typeface="Calibri"/>
              </a:rPr>
              <a:t>⚠ Safety Incidents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97880" y="1097280"/>
            <a:ext cx="5989320" cy="3886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115568"/>
            <a:ext cx="5989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202020"/>
                </a:solidFill>
                <a:latin typeface="Calibri"/>
              </a:rPr>
              <a:t>NAGAR NAYAN End-to-End 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1554480"/>
            <a:ext cx="2377440" cy="384048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🚌 BUS CAMERAS + GPS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717536" y="1938528"/>
            <a:ext cx="201168" cy="256032"/>
          </a:xfrm>
          <a:prstGeom prst="down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29400" y="2212848"/>
            <a:ext cx="2377440" cy="384048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📡 LIVE STREAM SERVER (RTSP)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7717536" y="2596896"/>
            <a:ext cx="201168" cy="256032"/>
          </a:xfrm>
          <a:prstGeom prst="down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29400" y="2871216"/>
            <a:ext cx="2377440" cy="438912"/>
          </a:xfrm>
          <a:prstGeom prst="roundRect">
            <a:avLst/>
          </a:prstGeom>
          <a:solidFill>
            <a:srgbClr val="1F63B0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🤖 AI VISION ENGINE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7717536" y="3310128"/>
            <a:ext cx="201168" cy="256032"/>
          </a:xfrm>
          <a:prstGeom prst="down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35040" y="3584448"/>
            <a:ext cx="1417320" cy="384048"/>
          </a:xfrm>
          <a:prstGeom prst="roundRect">
            <a:avLst/>
          </a:prstGeom>
          <a:solidFill>
            <a:srgbClr val="BDE3F5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050" b="1">
                <a:solidFill>
                  <a:srgbClr val="202020"/>
                </a:solidFill>
                <a:latin typeface="Calibri"/>
              </a:rPr>
              <a:t>Road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3584448"/>
            <a:ext cx="1417320" cy="384048"/>
          </a:xfrm>
          <a:prstGeom prst="roundRect">
            <a:avLst/>
          </a:prstGeom>
          <a:solidFill>
            <a:srgbClr val="BDE3F5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050" b="1">
                <a:solidFill>
                  <a:srgbClr val="202020"/>
                </a:solidFill>
                <a:latin typeface="Calibri"/>
              </a:rPr>
              <a:t>Traffic Analysis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7717536" y="3986784"/>
            <a:ext cx="201168" cy="256032"/>
          </a:xfrm>
          <a:prstGeom prst="down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29400" y="4261104"/>
            <a:ext cx="2377440" cy="384048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⚡ Event Validation → GIS Command Center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1554480"/>
            <a:ext cx="1737360" cy="3108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1000"/>
              </a:spcAft>
            </a:pPr>
            <a:r>
              <a:rPr sz="1100" b="1" i="0">
                <a:solidFill>
                  <a:srgbClr val="1B3A6B"/>
                </a:solidFill>
                <a:latin typeface="Calibri"/>
              </a:rPr>
              <a:t>🎥 Frame
Sampling</a:t>
            </a:r>
          </a:p>
          <a:p>
            <a:pPr algn="ctr">
              <a:spcAft>
                <a:spcPts val="1000"/>
              </a:spcAft>
            </a:pPr>
            <a:r>
              <a:rPr sz="1100" b="1" i="0">
                <a:solidFill>
                  <a:srgbClr val="1B3A6B"/>
                </a:solidFill>
                <a:latin typeface="Calibri"/>
              </a:rPr>
              <a:t>✅ Multi-frame
Validation</a:t>
            </a:r>
          </a:p>
          <a:p>
            <a:pPr algn="ctr">
              <a:spcAft>
                <a:spcPts val="1000"/>
              </a:spcAft>
            </a:pPr>
            <a:r>
              <a:rPr sz="1100" b="1" i="0">
                <a:solidFill>
                  <a:srgbClr val="1B3A6B"/>
                </a:solidFill>
                <a:latin typeface="Calibri"/>
              </a:rPr>
              <a:t>☁ Backend
FastAPI</a:t>
            </a:r>
          </a:p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B3A6B"/>
                </a:solidFill>
                <a:latin typeface="Calibri"/>
              </a:rPr>
              <a:t>🗺 Map Dashboard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0" y="4617720"/>
            <a:ext cx="2743200" cy="457200"/>
          </a:xfrm>
          <a:prstGeom prst="roundRect">
            <a:avLst/>
          </a:prstGeom>
          <a:solidFill>
            <a:srgbClr val="4E6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Innovation and Uniqueness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20640"/>
            <a:ext cx="11201400" cy="1143000"/>
          </a:xfrm>
          <a:prstGeom prst="roundRect">
            <a:avLst/>
          </a:prstGeom>
          <a:solidFill>
            <a:srgbClr val="FBE9D9"/>
          </a:solidFill>
          <a:ln w="25400">
            <a:solidFill>
              <a:srgbClr val="F27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193792"/>
            <a:ext cx="1088136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USP: </a:t>
            </a:r>
            <a:r>
              <a:rPr sz="1400" b="0" i="0">
                <a:solidFill>
                  <a:srgbClr val="202020"/>
                </a:solidFill>
                <a:latin typeface="Calibri"/>
              </a:rPr>
              <a:t>Instead of installing thousands of new sensors and cameras, Nagar Nayan intelligently reuses the existing moving camera infrastructure of public buses — zero new hardware, dynamic coverage of every road a bus travels, at city scale.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27B21"/>
                </a:solidFill>
                <a:latin typeface="Calibri"/>
              </a:rPr>
              <a:t>♻ Low cost  •  📡 Always moving  •  🏙 City-wide dynamic coverage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0" y="6492240"/>
            <a:ext cx="12191695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492240"/>
            <a:ext cx="64008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" y="137160"/>
            <a:ext cx="14173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200" b="0">
                <a:solidFill>
                  <a:srgbClr val="4A5A6A"/>
                </a:solidFill>
                <a:latin typeface="Calibri"/>
              </a:rPr>
              <a:t>Your Team
Name</a:t>
            </a:r>
          </a:p>
        </p:txBody>
      </p:sp>
      <p:sp>
        <p:nvSpPr>
          <p:cNvPr id="3" name="Hexagon 2"/>
          <p:cNvSpPr/>
          <p:nvPr/>
        </p:nvSpPr>
        <p:spPr>
          <a:xfrm>
            <a:off x="10012680" y="164592"/>
            <a:ext cx="1204722" cy="1126998"/>
          </a:xfrm>
          <a:prstGeom prst="hexagon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83672" y="382219"/>
            <a:ext cx="388620" cy="481888"/>
          </a:xfrm>
          <a:prstGeom prst="ellipse">
            <a:avLst/>
          </a:prstGeom>
          <a:solidFill>
            <a:srgbClr val="F2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87837" y="382219"/>
            <a:ext cx="388620" cy="4818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9120" y="926287"/>
            <a:ext cx="544068" cy="2487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200" b="1">
                <a:solidFill>
                  <a:srgbClr val="4A5A6A"/>
                </a:solidFill>
                <a:latin typeface="Calibri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5126" y="242316"/>
            <a:ext cx="1554480" cy="699516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19" b="1" i="0">
                <a:solidFill>
                  <a:srgbClr val="4A5A6A"/>
                </a:solidFill>
                <a:latin typeface="Calibri"/>
              </a:rPr>
              <a:t>SMART INDIA
</a:t>
            </a:r>
          </a:p>
          <a:p>
            <a:pPr algn="l">
              <a:spcAft>
                <a:spcPts val="400"/>
              </a:spcAft>
            </a:pPr>
            <a:r>
              <a:rPr sz="1019" b="1" i="0">
                <a:solidFill>
                  <a:srgbClr val="4A5A6A"/>
                </a:solidFill>
                <a:latin typeface="Calibri"/>
              </a:rPr>
              <a:t>HACKATHON
</a:t>
            </a:r>
          </a:p>
          <a:p>
            <a:pPr algn="l">
              <a:spcAft>
                <a:spcPts val="400"/>
              </a:spcAft>
            </a:pPr>
            <a:r>
              <a:rPr sz="1019" b="1" i="0">
                <a:solidFill>
                  <a:srgbClr val="4A5A6A"/>
                </a:solidFill>
                <a:latin typeface="Calibri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73152"/>
            <a:ext cx="8229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202020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2212848" cy="4160520"/>
          </a:xfrm>
          <a:prstGeom prst="rect">
            <a:avLst/>
          </a:prstGeom>
          <a:solidFill>
            <a:srgbClr val="E9F5FB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2212848" cy="566928"/>
          </a:xfrm>
          <a:prstGeom prst="rect">
            <a:avLst/>
          </a:prstGeom>
          <a:solidFill>
            <a:srgbClr val="DDE7F0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987552"/>
            <a:ext cx="221284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B3A6B"/>
                </a:solidFill>
                <a:latin typeface="Calibri"/>
              </a:rPr>
              <a:t>Zone 1
Data Capture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91640"/>
            <a:ext cx="1938528" cy="658368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🚌 Bus Camera(s)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32888"/>
            <a:ext cx="1938528" cy="658368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📍 GPS Module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74136"/>
            <a:ext cx="1938528" cy="658368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🎞 Recorded / Live Feed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51176" y="2788920"/>
            <a:ext cx="237744" cy="274320"/>
          </a:xfrm>
          <a:prstGeom prst="right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15768" y="960120"/>
            <a:ext cx="2212848" cy="4160520"/>
          </a:xfrm>
          <a:prstGeom prst="rect">
            <a:avLst/>
          </a:prstGeom>
          <a:solidFill>
            <a:srgbClr val="E9F8EE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15768" y="960120"/>
            <a:ext cx="2212848" cy="566928"/>
          </a:xfrm>
          <a:prstGeom prst="rect">
            <a:avLst/>
          </a:prstGeom>
          <a:solidFill>
            <a:srgbClr val="DDE7F0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5768" y="987552"/>
            <a:ext cx="221284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B3A6B"/>
                </a:solidFill>
                <a:latin typeface="Calibri"/>
              </a:rPr>
              <a:t>Zone 2
Streaming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2928" y="1691640"/>
            <a:ext cx="1938528" cy="658368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📡 MediaMTX Server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52928" y="2532888"/>
            <a:ext cx="1938528" cy="658368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🎞 FFmpeg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52928" y="3374136"/>
            <a:ext cx="1938528" cy="658368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🔗 RTSP / WebRTC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946904" y="2788920"/>
            <a:ext cx="237744" cy="274320"/>
          </a:xfrm>
          <a:prstGeom prst="right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11496" y="960120"/>
            <a:ext cx="2212848" cy="4160520"/>
          </a:xfrm>
          <a:prstGeom prst="rect">
            <a:avLst/>
          </a:prstGeom>
          <a:solidFill>
            <a:srgbClr val="FBF3E4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11496" y="960120"/>
            <a:ext cx="2212848" cy="566928"/>
          </a:xfrm>
          <a:prstGeom prst="rect">
            <a:avLst/>
          </a:prstGeom>
          <a:solidFill>
            <a:srgbClr val="DDE7F0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987552"/>
            <a:ext cx="221284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B3A6B"/>
                </a:solidFill>
                <a:latin typeface="Calibri"/>
              </a:rPr>
              <a:t>Zone 3
AI Vision Engine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48656" y="1691640"/>
            <a:ext cx="1938528" cy="658368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🎯 YOLO Detection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48656" y="2532888"/>
            <a:ext cx="1938528" cy="658368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👁 OpenCV + Tracking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48656" y="3374136"/>
            <a:ext cx="1938528" cy="658368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✅ Multi-frame 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48656" y="4215384"/>
            <a:ext cx="1938528" cy="658368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🛣 Road + 🚦 Traffic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342631" y="2788920"/>
            <a:ext cx="237744" cy="274320"/>
          </a:xfrm>
          <a:prstGeom prst="rightArrow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07224" y="960120"/>
            <a:ext cx="2212848" cy="4160520"/>
          </a:xfrm>
          <a:prstGeom prst="rect">
            <a:avLst/>
          </a:prstGeom>
          <a:solidFill>
            <a:srgbClr val="F1ECFB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07224" y="960120"/>
            <a:ext cx="2212848" cy="566928"/>
          </a:xfrm>
          <a:prstGeom prst="rect">
            <a:avLst/>
          </a:prstGeom>
          <a:solidFill>
            <a:srgbClr val="DDE7F0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07224" y="987552"/>
            <a:ext cx="221284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B3A6B"/>
                </a:solidFill>
                <a:latin typeface="Calibri"/>
              </a:rPr>
              <a:t>Zone 4
Command Center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44384" y="1691640"/>
            <a:ext cx="1938528" cy="658368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⚡ FastAPI + WebSockets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44384" y="2532888"/>
            <a:ext cx="1938528" cy="658368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🗄 PostgreSQL + PostGIS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44384" y="3374136"/>
            <a:ext cx="1938528" cy="658368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🗺 React + MapLibre GIS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44384" y="4215384"/>
            <a:ext cx="1938528" cy="658368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202020"/>
                </a:solidFill>
                <a:latin typeface="Calibri"/>
              </a:rPr>
              <a:t>📊 Live Event Dashboard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21240" y="960120"/>
            <a:ext cx="214884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66960" y="987552"/>
            <a:ext cx="20574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D62828"/>
                </a:solidFill>
                <a:latin typeface="Calibri"/>
              </a:rPr>
              <a:t>⚙ Implementation Process</a:t>
            </a:r>
          </a:p>
        </p:txBody>
      </p:sp>
      <p:sp>
        <p:nvSpPr>
          <p:cNvPr id="40" name="Oval 39"/>
          <p:cNvSpPr/>
          <p:nvPr/>
        </p:nvSpPr>
        <p:spPr>
          <a:xfrm>
            <a:off x="10012680" y="1417320"/>
            <a:ext cx="384048" cy="384048"/>
          </a:xfrm>
          <a:prstGeom prst="ellipse">
            <a:avLst/>
          </a:prstGeom>
          <a:solidFill>
            <a:srgbClr val="F2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42448" y="1362456"/>
            <a:ext cx="16002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02020"/>
                </a:solidFill>
                <a:latin typeface="Calibri"/>
              </a:rPr>
              <a:t>Stream Capture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A5A6A"/>
                </a:solidFill>
                <a:latin typeface="Calibri"/>
              </a:rPr>
              <a:t>Bus video + GPS ingested live</a:t>
            </a:r>
          </a:p>
        </p:txBody>
      </p:sp>
      <p:sp>
        <p:nvSpPr>
          <p:cNvPr id="42" name="Oval 41"/>
          <p:cNvSpPr/>
          <p:nvPr/>
        </p:nvSpPr>
        <p:spPr>
          <a:xfrm>
            <a:off x="10012680" y="2039112"/>
            <a:ext cx="384048" cy="384048"/>
          </a:xfrm>
          <a:prstGeom prst="ellipse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42448" y="1984248"/>
            <a:ext cx="16002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02020"/>
                </a:solidFill>
                <a:latin typeface="Calibri"/>
              </a:rPr>
              <a:t>Frame Sampling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A5A6A"/>
                </a:solidFill>
                <a:latin typeface="Calibri"/>
              </a:rPr>
              <a:t>Only key frames processed</a:t>
            </a:r>
          </a:p>
        </p:txBody>
      </p:sp>
      <p:sp>
        <p:nvSpPr>
          <p:cNvPr id="44" name="Oval 43"/>
          <p:cNvSpPr/>
          <p:nvPr/>
        </p:nvSpPr>
        <p:spPr>
          <a:xfrm>
            <a:off x="10012680" y="2660904"/>
            <a:ext cx="384048" cy="384048"/>
          </a:xfrm>
          <a:prstGeom prst="ellipse">
            <a:avLst/>
          </a:prstGeom>
          <a:solidFill>
            <a:srgbClr val="F2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42448" y="2606040"/>
            <a:ext cx="16002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02020"/>
                </a:solidFill>
                <a:latin typeface="Calibri"/>
              </a:rPr>
              <a:t>AI Detection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A5A6A"/>
                </a:solidFill>
                <a:latin typeface="Calibri"/>
              </a:rPr>
              <a:t>YOLO flags road/traffic events</a:t>
            </a:r>
          </a:p>
        </p:txBody>
      </p:sp>
      <p:sp>
        <p:nvSpPr>
          <p:cNvPr id="46" name="Oval 45"/>
          <p:cNvSpPr/>
          <p:nvPr/>
        </p:nvSpPr>
        <p:spPr>
          <a:xfrm>
            <a:off x="10012680" y="3282696"/>
            <a:ext cx="384048" cy="384048"/>
          </a:xfrm>
          <a:prstGeom prst="ellipse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42448" y="3227832"/>
            <a:ext cx="16002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02020"/>
                </a:solidFill>
                <a:latin typeface="Calibri"/>
              </a:rPr>
              <a:t>Validation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A5A6A"/>
                </a:solidFill>
                <a:latin typeface="Calibri"/>
              </a:rPr>
              <a:t>Multi-frame + confidence filter</a:t>
            </a:r>
          </a:p>
        </p:txBody>
      </p:sp>
      <p:sp>
        <p:nvSpPr>
          <p:cNvPr id="48" name="Oval 47"/>
          <p:cNvSpPr/>
          <p:nvPr/>
        </p:nvSpPr>
        <p:spPr>
          <a:xfrm>
            <a:off x="10012680" y="3904488"/>
            <a:ext cx="384048" cy="384048"/>
          </a:xfrm>
          <a:prstGeom prst="ellipse">
            <a:avLst/>
          </a:prstGeom>
          <a:solidFill>
            <a:srgbClr val="F2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42448" y="3849624"/>
            <a:ext cx="16002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02020"/>
                </a:solidFill>
                <a:latin typeface="Calibri"/>
              </a:rPr>
              <a:t>Event Generation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A5A6A"/>
                </a:solidFill>
                <a:latin typeface="Calibri"/>
              </a:rPr>
              <a:t>Geo-tagged, deduplicated events</a:t>
            </a:r>
          </a:p>
        </p:txBody>
      </p:sp>
      <p:sp>
        <p:nvSpPr>
          <p:cNvPr id="50" name="Oval 49"/>
          <p:cNvSpPr/>
          <p:nvPr/>
        </p:nvSpPr>
        <p:spPr>
          <a:xfrm>
            <a:off x="10012680" y="4526280"/>
            <a:ext cx="384048" cy="384048"/>
          </a:xfrm>
          <a:prstGeom prst="ellipse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42448" y="4471416"/>
            <a:ext cx="16002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02020"/>
                </a:solidFill>
                <a:latin typeface="Calibri"/>
              </a:rPr>
              <a:t>GIS Visualization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4A5A6A"/>
                </a:solidFill>
                <a:latin typeface="Calibri"/>
              </a:rPr>
              <a:t>Live map at Command Center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0040" y="5257800"/>
            <a:ext cx="115671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5303520"/>
            <a:ext cx="192024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63B0"/>
                </a:solidFill>
                <a:latin typeface="Calibri"/>
              </a:rPr>
              <a:t>Components /
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63B0"/>
                </a:solidFill>
                <a:latin typeface="Calibri"/>
              </a:rPr>
              <a:t>Technology
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63B0"/>
                </a:solidFill>
                <a:latin typeface="Calibri"/>
              </a:rPr>
              <a:t>stack to be used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514600" y="5504688"/>
            <a:ext cx="1024128" cy="475488"/>
          </a:xfrm>
          <a:prstGeom prst="roundRect">
            <a:avLst/>
          </a:prstGeom>
          <a:solidFill>
            <a:srgbClr val="377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557015" y="5504688"/>
            <a:ext cx="1024128" cy="475488"/>
          </a:xfrm>
          <a:prstGeom prst="roundRect">
            <a:avLst/>
          </a:prstGeom>
          <a:solidFill>
            <a:srgbClr val="5C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OpenCV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99431" y="5504688"/>
            <a:ext cx="1024128" cy="475488"/>
          </a:xfrm>
          <a:prstGeom prst="round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YOLO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41847" y="5504688"/>
            <a:ext cx="1024128" cy="47548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MediaMTX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84263" y="5504688"/>
            <a:ext cx="1024128" cy="475488"/>
          </a:xfrm>
          <a:prstGeom prst="round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26679" y="5504688"/>
            <a:ext cx="1024128" cy="475488"/>
          </a:xfrm>
          <a:prstGeom prst="roundRect">
            <a:avLst/>
          </a:prstGeom>
          <a:solidFill>
            <a:srgbClr val="33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PostGIS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769096" y="5504688"/>
            <a:ext cx="1024128" cy="475488"/>
          </a:xfrm>
          <a:prstGeom prst="round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React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811512" y="5504688"/>
            <a:ext cx="1024128" cy="475488"/>
          </a:xfrm>
          <a:prstGeom prst="roundRect">
            <a:avLst/>
          </a:prstGeom>
          <a:solidFill>
            <a:srgbClr val="514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MapLibre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853928" y="5504688"/>
            <a:ext cx="1024128" cy="475488"/>
          </a:xfrm>
          <a:prstGeom prst="roundRect">
            <a:avLst/>
          </a:prstGeom>
          <a:solidFill>
            <a:srgbClr val="607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WebSockets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" y="5989320"/>
            <a:ext cx="114300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B3A6B"/>
                </a:solidFill>
                <a:latin typeface="Calibri"/>
              </a:rPr>
              <a:t>Processing Strategy:  Live Stream → Frame Sampling → AI Detection → Multi-frame Validation → Event Generation → GIS Visualization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0" y="6492240"/>
            <a:ext cx="12191695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30000" y="6492240"/>
            <a:ext cx="64008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" y="137160"/>
            <a:ext cx="14173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200" b="0">
                <a:solidFill>
                  <a:srgbClr val="4A5A6A"/>
                </a:solidFill>
                <a:latin typeface="Calibri"/>
              </a:rPr>
              <a:t>Your Team
Name</a:t>
            </a:r>
          </a:p>
        </p:txBody>
      </p:sp>
      <p:sp>
        <p:nvSpPr>
          <p:cNvPr id="3" name="Hexagon 2"/>
          <p:cNvSpPr/>
          <p:nvPr/>
        </p:nvSpPr>
        <p:spPr>
          <a:xfrm>
            <a:off x="10012680" y="164592"/>
            <a:ext cx="1204722" cy="1126998"/>
          </a:xfrm>
          <a:prstGeom prst="hexagon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83672" y="382219"/>
            <a:ext cx="388620" cy="481888"/>
          </a:xfrm>
          <a:prstGeom prst="ellipse">
            <a:avLst/>
          </a:prstGeom>
          <a:solidFill>
            <a:srgbClr val="F2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87837" y="382219"/>
            <a:ext cx="388620" cy="4818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9120" y="926287"/>
            <a:ext cx="544068" cy="2487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200" b="1">
                <a:solidFill>
                  <a:srgbClr val="4A5A6A"/>
                </a:solidFill>
                <a:latin typeface="Calibri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5126" y="242316"/>
            <a:ext cx="1554480" cy="699516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19" b="1" i="0">
                <a:solidFill>
                  <a:srgbClr val="4A5A6A"/>
                </a:solidFill>
                <a:latin typeface="Calibri"/>
              </a:rPr>
              <a:t>SMART INDIA
</a:t>
            </a:r>
          </a:p>
          <a:p>
            <a:pPr algn="l">
              <a:spcAft>
                <a:spcPts val="400"/>
              </a:spcAft>
            </a:pPr>
            <a:r>
              <a:rPr sz="1019" b="1" i="0">
                <a:solidFill>
                  <a:srgbClr val="4A5A6A"/>
                </a:solidFill>
                <a:latin typeface="Calibri"/>
              </a:rPr>
              <a:t>HACKATHON
</a:t>
            </a:r>
          </a:p>
          <a:p>
            <a:pPr algn="l">
              <a:spcAft>
                <a:spcPts val="400"/>
              </a:spcAft>
            </a:pPr>
            <a:r>
              <a:rPr sz="1019" b="1" i="0">
                <a:solidFill>
                  <a:srgbClr val="4A5A6A"/>
                </a:solidFill>
                <a:latin typeface="Calibri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73152"/>
            <a:ext cx="8229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202020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3822191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50976"/>
            <a:ext cx="3611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63B0"/>
                </a:solidFill>
                <a:latin typeface="Calibri"/>
              </a:rPr>
              <a:t>Feasibility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25880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150" b="0" i="0">
                <a:solidFill>
                  <a:srgbClr val="202020"/>
                </a:solidFill>
                <a:latin typeface="Calibri"/>
              </a:rPr>
              <a:t>Existing bus cameras — no new sensing hardware needed.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150" b="0" i="0">
                <a:solidFill>
                  <a:srgbClr val="202020"/>
                </a:solidFill>
                <a:latin typeface="Calibri"/>
              </a:rPr>
              <a:t>Modular architecture: Streaming → AI → Backend → Dashboard scale independently.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150" b="0" i="0">
                <a:solidFill>
                  <a:srgbClr val="202020"/>
                </a:solidFill>
                <a:latin typeface="Calibri"/>
              </a:rPr>
              <a:t>Low-cost prototype: recorded videos, simulated RTSP streams, open-source AI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7096" y="914400"/>
            <a:ext cx="3822191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950976"/>
            <a:ext cx="3611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63B0"/>
                </a:solidFill>
                <a:latin typeface="Calibri"/>
              </a:rPr>
              <a:t>Viability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1325880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150" b="0" i="0">
                <a:solidFill>
                  <a:srgbClr val="202020"/>
                </a:solidFill>
                <a:latin typeface="Calibri"/>
              </a:rPr>
              <a:t>Runs on existing public transport fleet — proven, always-on infrastructure.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150" b="0" i="0">
                <a:solidFill>
                  <a:srgbClr val="202020"/>
                </a:solidFill>
                <a:latin typeface="Calibri"/>
              </a:rPr>
              <a:t>Software-only build keeps cost low and deployment fast.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150" b="0" i="0">
                <a:solidFill>
                  <a:srgbClr val="202020"/>
                </a:solidFill>
                <a:latin typeface="Calibri"/>
              </a:rPr>
              <a:t>Geo-tagged event data directly useful for municipal maintenance planning.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4152" y="914400"/>
            <a:ext cx="3822191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950976"/>
            <a:ext cx="3611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63B0"/>
                </a:solidFill>
                <a:latin typeface="Calibri"/>
              </a:rPr>
              <a:t>Practical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325880"/>
            <a:ext cx="3611880" cy="1325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150" b="0" i="0">
                <a:solidFill>
                  <a:srgbClr val="202020"/>
                </a:solidFill>
                <a:latin typeface="Calibri"/>
              </a:rPr>
              <a:t>Prototype ready with single bus stream, then multi-bus scale-up.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150" b="0" i="0">
                <a:solidFill>
                  <a:srgbClr val="202020"/>
                </a:solidFill>
                <a:latin typeface="Calibri"/>
              </a:rPr>
              <a:t>Containerized services enable city-scale rollout.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150" b="0" i="0">
                <a:solidFill>
                  <a:srgbClr val="202020"/>
                </a:solidFill>
                <a:latin typeface="Calibri"/>
              </a:rPr>
              <a:t>Works with intermittent connectivity via stream retry &amp; recovery.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788920"/>
            <a:ext cx="11567160" cy="3063240"/>
          </a:xfrm>
          <a:prstGeom prst="roundRect">
            <a:avLst/>
          </a:prstGeom>
          <a:solidFill>
            <a:srgbClr val="FAFAF5"/>
          </a:solidFill>
          <a:ln w="1905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931920"/>
            <a:ext cx="1737360" cy="123444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200" b="1">
                <a:solidFill>
                  <a:srgbClr val="202020"/>
                </a:solidFill>
                <a:latin typeface="Calibri"/>
              </a:rPr>
              <a:t>⚠ Potential Challenges &amp; Risks</a:t>
            </a:r>
          </a:p>
        </p:txBody>
      </p:sp>
      <p:sp>
        <p:nvSpPr>
          <p:cNvPr id="20" name="Oval 19"/>
          <p:cNvSpPr/>
          <p:nvPr/>
        </p:nvSpPr>
        <p:spPr>
          <a:xfrm>
            <a:off x="2606040" y="2971800"/>
            <a:ext cx="384048" cy="38404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2898648"/>
            <a:ext cx="3246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02020"/>
                </a:solidFill>
                <a:latin typeface="Calibri"/>
              </a:rPr>
              <a:t>High video processing load: </a:t>
            </a:r>
            <a:r>
              <a:rPr sz="1150" b="0" i="0">
                <a:solidFill>
                  <a:srgbClr val="202020"/>
                </a:solidFill>
                <a:latin typeface="Calibri"/>
              </a:rPr>
              <a:t>Frame sampling + optimized AI inference</a:t>
            </a:r>
          </a:p>
        </p:txBody>
      </p:sp>
      <p:sp>
        <p:nvSpPr>
          <p:cNvPr id="22" name="Oval 21"/>
          <p:cNvSpPr/>
          <p:nvPr/>
        </p:nvSpPr>
        <p:spPr>
          <a:xfrm>
            <a:off x="2606040" y="3470148"/>
            <a:ext cx="384048" cy="38404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3396996"/>
            <a:ext cx="3246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02020"/>
                </a:solidFill>
                <a:latin typeface="Calibri"/>
              </a:rPr>
              <a:t>False detections: </a:t>
            </a:r>
            <a:r>
              <a:rPr sz="1150" b="0" i="0">
                <a:solidFill>
                  <a:srgbClr val="202020"/>
                </a:solidFill>
                <a:latin typeface="Calibri"/>
              </a:rPr>
              <a:t>Multi-frame validation &amp; confidence scoring</a:t>
            </a:r>
          </a:p>
        </p:txBody>
      </p:sp>
      <p:sp>
        <p:nvSpPr>
          <p:cNvPr id="24" name="Oval 23"/>
          <p:cNvSpPr/>
          <p:nvPr/>
        </p:nvSpPr>
        <p:spPr>
          <a:xfrm>
            <a:off x="2606040" y="3968496"/>
            <a:ext cx="384048" cy="38404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808" y="3895344"/>
            <a:ext cx="3246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02020"/>
                </a:solidFill>
                <a:latin typeface="Calibri"/>
              </a:rPr>
              <a:t>Duplicate reports: </a:t>
            </a:r>
            <a:r>
              <a:rPr sz="1150" b="0" i="0">
                <a:solidFill>
                  <a:srgbClr val="202020"/>
                </a:solidFill>
                <a:latin typeface="Calibri"/>
              </a:rPr>
              <a:t>GPS + spatial event clustering (PostGIS)</a:t>
            </a:r>
          </a:p>
        </p:txBody>
      </p:sp>
      <p:sp>
        <p:nvSpPr>
          <p:cNvPr id="26" name="Oval 25"/>
          <p:cNvSpPr/>
          <p:nvPr/>
        </p:nvSpPr>
        <p:spPr>
          <a:xfrm>
            <a:off x="2606040" y="4466844"/>
            <a:ext cx="384048" cy="38404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35808" y="4393692"/>
            <a:ext cx="3246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02020"/>
                </a:solidFill>
                <a:latin typeface="Calibri"/>
              </a:rPr>
              <a:t>Bandwidth consumption: </a:t>
            </a:r>
            <a:r>
              <a:rPr sz="1150" b="0" i="0">
                <a:solidFill>
                  <a:srgbClr val="202020"/>
                </a:solidFill>
                <a:latin typeface="Calibri"/>
              </a:rPr>
              <a:t>Process only required frames/events</a:t>
            </a:r>
          </a:p>
        </p:txBody>
      </p:sp>
      <p:sp>
        <p:nvSpPr>
          <p:cNvPr id="28" name="Oval 27"/>
          <p:cNvSpPr/>
          <p:nvPr/>
        </p:nvSpPr>
        <p:spPr>
          <a:xfrm>
            <a:off x="2606040" y="4965192"/>
            <a:ext cx="384048" cy="384048"/>
          </a:xfrm>
          <a:prstGeom prst="ellipse">
            <a:avLst/>
          </a:prstGeom>
          <a:solidFill>
            <a:srgbClr val="D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35808" y="4892040"/>
            <a:ext cx="3246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02020"/>
                </a:solidFill>
                <a:latin typeface="Calibri"/>
              </a:rPr>
              <a:t>Poor network connectivity: </a:t>
            </a:r>
            <a:r>
              <a:rPr sz="1150" b="0" i="0">
                <a:solidFill>
                  <a:srgbClr val="202020"/>
                </a:solidFill>
                <a:latin typeface="Calibri"/>
              </a:rPr>
              <a:t>Stream retry &amp; recovery mechanisms</a:t>
            </a:r>
          </a:p>
        </p:txBody>
      </p:sp>
      <p:sp>
        <p:nvSpPr>
          <p:cNvPr id="30" name="Oval 29"/>
          <p:cNvSpPr/>
          <p:nvPr/>
        </p:nvSpPr>
        <p:spPr>
          <a:xfrm>
            <a:off x="10104120" y="3931920"/>
            <a:ext cx="1645920" cy="123444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150" b="1">
                <a:solidFill>
                  <a:srgbClr val="202020"/>
                </a:solidFill>
                <a:latin typeface="Calibri"/>
              </a:rPr>
              <a:t>✔ Strategies For Overcoming Challenges</a:t>
            </a:r>
          </a:p>
        </p:txBody>
      </p:sp>
      <p:sp>
        <p:nvSpPr>
          <p:cNvPr id="31" name="Oval 30"/>
          <p:cNvSpPr/>
          <p:nvPr/>
        </p:nvSpPr>
        <p:spPr>
          <a:xfrm>
            <a:off x="9601200" y="2971800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898648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Calibri"/>
              </a:rPr>
              <a:t>Frame sampling &amp; lightweight inference cuts compute load.</a:t>
            </a:r>
          </a:p>
        </p:txBody>
      </p:sp>
      <p:sp>
        <p:nvSpPr>
          <p:cNvPr id="33" name="Oval 32"/>
          <p:cNvSpPr/>
          <p:nvPr/>
        </p:nvSpPr>
        <p:spPr>
          <a:xfrm>
            <a:off x="9601200" y="3470148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396996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Calibri"/>
              </a:rPr>
              <a:t>Multi-frame validation eliminates false alarms.</a:t>
            </a:r>
          </a:p>
        </p:txBody>
      </p:sp>
      <p:sp>
        <p:nvSpPr>
          <p:cNvPr id="35" name="Oval 34"/>
          <p:cNvSpPr/>
          <p:nvPr/>
        </p:nvSpPr>
        <p:spPr>
          <a:xfrm>
            <a:off x="9601200" y="3968496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895344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Calibri"/>
              </a:rPr>
              <a:t>Spatial clustering merges duplicate events into one report.</a:t>
            </a:r>
          </a:p>
        </p:txBody>
      </p:sp>
      <p:sp>
        <p:nvSpPr>
          <p:cNvPr id="37" name="Oval 36"/>
          <p:cNvSpPr/>
          <p:nvPr/>
        </p:nvSpPr>
        <p:spPr>
          <a:xfrm>
            <a:off x="9601200" y="4466844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393692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Calibri"/>
              </a:rPr>
              <a:t>Only key frames and event metadata are transmitted.</a:t>
            </a:r>
          </a:p>
        </p:txBody>
      </p:sp>
      <p:sp>
        <p:nvSpPr>
          <p:cNvPr id="39" name="Oval 38"/>
          <p:cNvSpPr/>
          <p:nvPr/>
        </p:nvSpPr>
        <p:spPr>
          <a:xfrm>
            <a:off x="9601200" y="4965192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892040"/>
            <a:ext cx="31089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 i="0">
                <a:solidFill>
                  <a:srgbClr val="202020"/>
                </a:solidFill>
                <a:latin typeface="Calibri"/>
              </a:rPr>
              <a:t>Auto-reconnect + buffering handles patchy networks.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" y="5961888"/>
            <a:ext cx="11567160" cy="438912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300" b="1">
                <a:solidFill>
                  <a:srgbClr val="1B3A6B"/>
                </a:solidFill>
                <a:latin typeface="Calibri"/>
              </a:rPr>
              <a:t>Deployment:  Prototype  →  Single Stream  →  Multiple Cameras  →  Multiple Buses  →  City-Scale Rollout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0" y="6492240"/>
            <a:ext cx="12191695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92240"/>
            <a:ext cx="64008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" y="137160"/>
            <a:ext cx="14173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200" b="0">
                <a:solidFill>
                  <a:srgbClr val="4A5A6A"/>
                </a:solidFill>
                <a:latin typeface="Calibri"/>
              </a:rPr>
              <a:t>Your Team
Name</a:t>
            </a:r>
          </a:p>
        </p:txBody>
      </p:sp>
      <p:sp>
        <p:nvSpPr>
          <p:cNvPr id="3" name="Hexagon 2"/>
          <p:cNvSpPr/>
          <p:nvPr/>
        </p:nvSpPr>
        <p:spPr>
          <a:xfrm>
            <a:off x="10012680" y="164592"/>
            <a:ext cx="1204722" cy="1126998"/>
          </a:xfrm>
          <a:prstGeom prst="hexagon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83672" y="382219"/>
            <a:ext cx="388620" cy="481888"/>
          </a:xfrm>
          <a:prstGeom prst="ellipse">
            <a:avLst/>
          </a:prstGeom>
          <a:solidFill>
            <a:srgbClr val="F2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87837" y="382219"/>
            <a:ext cx="388620" cy="4818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9120" y="926287"/>
            <a:ext cx="544068" cy="2487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200" b="1">
                <a:solidFill>
                  <a:srgbClr val="4A5A6A"/>
                </a:solidFill>
                <a:latin typeface="Calibri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5126" y="242316"/>
            <a:ext cx="1554480" cy="699516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19" b="1" i="0">
                <a:solidFill>
                  <a:srgbClr val="4A5A6A"/>
                </a:solidFill>
                <a:latin typeface="Calibri"/>
              </a:rPr>
              <a:t>SMART INDIA
</a:t>
            </a:r>
          </a:p>
          <a:p>
            <a:pPr algn="l">
              <a:spcAft>
                <a:spcPts val="400"/>
              </a:spcAft>
            </a:pPr>
            <a:r>
              <a:rPr sz="1019" b="1" i="0">
                <a:solidFill>
                  <a:srgbClr val="4A5A6A"/>
                </a:solidFill>
                <a:latin typeface="Calibri"/>
              </a:rPr>
              <a:t>HACKATHON
</a:t>
            </a:r>
          </a:p>
          <a:p>
            <a:pPr algn="l">
              <a:spcAft>
                <a:spcPts val="400"/>
              </a:spcAft>
            </a:pPr>
            <a:r>
              <a:rPr sz="1019" b="1" i="0">
                <a:solidFill>
                  <a:srgbClr val="4A5A6A"/>
                </a:solidFill>
                <a:latin typeface="Calibri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73152"/>
            <a:ext cx="8229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202020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9" name="Donut 8"/>
          <p:cNvSpPr/>
          <p:nvPr/>
        </p:nvSpPr>
        <p:spPr>
          <a:xfrm>
            <a:off x="2331720" y="2331720"/>
            <a:ext cx="2286000" cy="2286000"/>
          </a:xfrm>
          <a:prstGeom prst="donut">
            <a:avLst/>
          </a:prstGeom>
          <a:solidFill>
            <a:srgbClr val="F2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60320" y="2697480"/>
            <a:ext cx="1828800" cy="1554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200" b="1">
                <a:solidFill>
                  <a:srgbClr val="1B3A6B"/>
                </a:solidFill>
                <a:latin typeface="Calibri"/>
              </a:rPr>
              <a:t>Potential Impact on Targeted Audience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188720"/>
            <a:ext cx="356616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16152"/>
            <a:ext cx="3383279" cy="996695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F63B0"/>
                </a:solidFill>
                <a:latin typeface="Calibri"/>
              </a:rPr>
              <a:t>🏙 City Authorities
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2020"/>
                </a:solidFill>
                <a:latin typeface="Calibri"/>
              </a:rPr>
              <a:t>Real-time visibility of urban problems, faster defect identification, data-driven maintenance planning and better traffic management.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1188720"/>
            <a:ext cx="338328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216152"/>
            <a:ext cx="3200400" cy="996695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F63B0"/>
                </a:solidFill>
                <a:latin typeface="Calibri"/>
              </a:rPr>
              <a:t>👥 Citizens
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2020"/>
                </a:solidFill>
                <a:latin typeface="Calibri"/>
              </a:rPr>
              <a:t>Safer roads, faster resolution of infrastructure problems, reduced accident risks and better public mobility.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709160"/>
            <a:ext cx="356616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736592"/>
            <a:ext cx="3383279" cy="996695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F63B0"/>
                </a:solidFill>
                <a:latin typeface="Calibri"/>
              </a:rPr>
              <a:t>💰 Economic
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2020"/>
                </a:solidFill>
                <a:latin typeface="Calibri"/>
              </a:rPr>
              <a:t>Lower manual inspection costs, early detection prevents expensive road damage, optimized maintenance budgets.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4709160"/>
            <a:ext cx="3383280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4736592"/>
            <a:ext cx="3200400" cy="996695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1F63B0"/>
                </a:solidFill>
                <a:latin typeface="Calibri"/>
              </a:rPr>
              <a:t>🌱 Environmental
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2020"/>
                </a:solidFill>
                <a:latin typeface="Calibri"/>
              </a:rPr>
              <a:t>Less inspection travel, smoother traffic flow reduces idle emissions, data-driven planning supports sustainable mobility.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005840"/>
            <a:ext cx="4572000" cy="502920"/>
          </a:xfrm>
          <a:prstGeom prst="round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Benefits of the Solution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645920"/>
            <a:ext cx="4572000" cy="118872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F27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1691640"/>
            <a:ext cx="429768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Social
</a:t>
            </a:r>
          </a:p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202020"/>
                </a:solidFill>
                <a:latin typeface="Calibri"/>
              </a:rPr>
              <a:t>"Safer streets and faster grievance redressal build citizen trust in city governance."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2971800"/>
            <a:ext cx="4572000" cy="1188720"/>
          </a:xfrm>
          <a:prstGeom prst="roundRect">
            <a:avLst/>
          </a:prstGeom>
          <a:solidFill>
            <a:srgbClr val="FBF3E4"/>
          </a:solidFill>
          <a:ln w="19050">
            <a:solidFill>
              <a:srgbClr val="F27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3017520"/>
            <a:ext cx="429768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Economic
</a:t>
            </a:r>
          </a:p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202020"/>
                </a:solidFill>
                <a:latin typeface="Calibri"/>
              </a:rPr>
              <a:t>"No new hardware capex; reuses existing cameras and cuts recurring inspection costs."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4297680"/>
            <a:ext cx="4572000" cy="1188720"/>
          </a:xfrm>
          <a:prstGeom prst="roundRect">
            <a:avLst/>
          </a:prstGeom>
          <a:solidFill>
            <a:srgbClr val="E9F8EE"/>
          </a:solidFill>
          <a:ln w="19050">
            <a:solidFill>
              <a:srgbClr val="F27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4343400"/>
            <a:ext cx="429768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Environmental
</a:t>
            </a:r>
          </a:p>
          <a:p>
            <a:pPr algn="l">
              <a:spcAft>
                <a:spcPts val="0"/>
              </a:spcAft>
            </a:pPr>
            <a:r>
              <a:rPr sz="1150" b="0" i="1">
                <a:solidFill>
                  <a:srgbClr val="202020"/>
                </a:solidFill>
                <a:latin typeface="Calibri"/>
              </a:rPr>
              <a:t>"Reduced vehicle idling and smarter maintenance routes lower the city's carbon footprint."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2606040"/>
            <a:ext cx="2834640" cy="50292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2624328"/>
            <a:ext cx="2834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D62828"/>
                </a:solidFill>
                <a:latin typeface="Calibri"/>
              </a:rPr>
              <a:t>REACTIVE CITY → </a:t>
            </a:r>
          </a:p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Calibri"/>
              </a:rPr>
              <a:t>PROACTIVE CITY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5897880"/>
            <a:ext cx="11430000" cy="5029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4A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500" b="1">
                <a:solidFill>
                  <a:srgbClr val="1B3A6B"/>
                </a:solidFill>
                <a:latin typeface="Calibri"/>
              </a:rPr>
              <a:t>"Nagar Nayan helps cities see problems before they become crises."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0" y="6492240"/>
            <a:ext cx="12191695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64008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" y="137160"/>
            <a:ext cx="14173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200" b="0">
                <a:solidFill>
                  <a:srgbClr val="4A5A6A"/>
                </a:solidFill>
                <a:latin typeface="Calibri"/>
              </a:rPr>
              <a:t>Your Team
Name</a:t>
            </a:r>
          </a:p>
        </p:txBody>
      </p:sp>
      <p:sp>
        <p:nvSpPr>
          <p:cNvPr id="3" name="Hexagon 2"/>
          <p:cNvSpPr/>
          <p:nvPr/>
        </p:nvSpPr>
        <p:spPr>
          <a:xfrm>
            <a:off x="10012680" y="164592"/>
            <a:ext cx="1204722" cy="1126998"/>
          </a:xfrm>
          <a:prstGeom prst="hexagon">
            <a:avLst/>
          </a:prstGeom>
          <a:solidFill>
            <a:srgbClr val="E9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83672" y="382219"/>
            <a:ext cx="388620" cy="481888"/>
          </a:xfrm>
          <a:prstGeom prst="ellipse">
            <a:avLst/>
          </a:prstGeom>
          <a:solidFill>
            <a:srgbClr val="F27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87837" y="382219"/>
            <a:ext cx="388620" cy="48188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9120" y="926287"/>
            <a:ext cx="544068" cy="2487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200" b="1">
                <a:solidFill>
                  <a:srgbClr val="4A5A6A"/>
                </a:solidFill>
                <a:latin typeface="Calibri"/>
              </a:rPr>
              <a:t>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5126" y="242316"/>
            <a:ext cx="1554480" cy="699516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19" b="1" i="0">
                <a:solidFill>
                  <a:srgbClr val="4A5A6A"/>
                </a:solidFill>
                <a:latin typeface="Calibri"/>
              </a:rPr>
              <a:t>SMART INDIA
</a:t>
            </a:r>
          </a:p>
          <a:p>
            <a:pPr algn="l">
              <a:spcAft>
                <a:spcPts val="400"/>
              </a:spcAft>
            </a:pPr>
            <a:r>
              <a:rPr sz="1019" b="1" i="0">
                <a:solidFill>
                  <a:srgbClr val="4A5A6A"/>
                </a:solidFill>
                <a:latin typeface="Calibri"/>
              </a:rPr>
              <a:t>HACKATHON
</a:t>
            </a:r>
          </a:p>
          <a:p>
            <a:pPr algn="l">
              <a:spcAft>
                <a:spcPts val="400"/>
              </a:spcAft>
            </a:pPr>
            <a:r>
              <a:rPr sz="1019" b="1" i="0">
                <a:solidFill>
                  <a:srgbClr val="4A5A6A"/>
                </a:solidFill>
                <a:latin typeface="Calibri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73152"/>
            <a:ext cx="8229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202020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960120"/>
            <a:ext cx="1138428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51560"/>
            <a:ext cx="10881360" cy="1920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63B0"/>
                </a:solidFill>
                <a:latin typeface="Calibri"/>
              </a:rPr>
              <a:t>Research Areas Explored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300" b="1" i="0">
                <a:solidFill>
                  <a:srgbClr val="202020"/>
                </a:solidFill>
                <a:latin typeface="Calibri"/>
              </a:rPr>
              <a:t>Intelligent Transportation Systems — </a:t>
            </a:r>
            <a:r>
              <a:rPr sz="1300" b="0" i="0">
                <a:solidFill>
                  <a:srgbClr val="202020"/>
                </a:solidFill>
                <a:latin typeface="Calibri"/>
              </a:rPr>
              <a:t>AI-powered traffic monitoring and urban mobility analysis.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300" b="1" i="0">
                <a:solidFill>
                  <a:srgbClr val="202020"/>
                </a:solidFill>
                <a:latin typeface="Calibri"/>
              </a:rPr>
              <a:t>Automated Road Damage Detection — </a:t>
            </a:r>
            <a:r>
              <a:rPr sz="1300" b="0" i="0">
                <a:solidFill>
                  <a:srgbClr val="202020"/>
                </a:solidFill>
                <a:latin typeface="Calibri"/>
              </a:rPr>
              <a:t>Computer-vision approaches for detecting potholes and road-surface defects (RDD datasets &amp; papers).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300" b="1" i="0">
                <a:solidFill>
                  <a:srgbClr val="202020"/>
                </a:solidFill>
                <a:latin typeface="Calibri"/>
              </a:rPr>
              <a:t>Object Detection &amp; Tracking — </a:t>
            </a:r>
            <a:r>
              <a:rPr sz="1300" b="0" i="0">
                <a:solidFill>
                  <a:srgbClr val="202020"/>
                </a:solidFill>
                <a:latin typeface="Calibri"/>
              </a:rPr>
              <a:t>Real-time detection of vehicles, pedestrians and infrastructure using deep learning.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300" b="1" i="0">
                <a:solidFill>
                  <a:srgbClr val="202020"/>
                </a:solidFill>
                <a:latin typeface="Calibri"/>
              </a:rPr>
              <a:t>Geospatial Urban Intelligence — </a:t>
            </a:r>
            <a:r>
              <a:rPr sz="1300" b="0" i="0">
                <a:solidFill>
                  <a:srgbClr val="202020"/>
                </a:solidFill>
                <a:latin typeface="Calibri"/>
              </a:rPr>
              <a:t>GIS-based visualization and spatial clustering for city management.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088136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63B0"/>
                </a:solidFill>
                <a:latin typeface="Calibri"/>
              </a:rPr>
              <a:t>Academic &amp; Technical Sources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300" b="1" i="0">
                <a:solidFill>
                  <a:srgbClr val="202020"/>
                </a:solidFill>
                <a:latin typeface="Calibri"/>
              </a:rPr>
              <a:t>YOLO — Real-Time Object Detection: </a:t>
            </a:r>
            <a:r>
              <a:rPr sz="1300" b="0" i="0">
                <a:solidFill>
                  <a:srgbClr val="0563C1"/>
                </a:solidFill>
                <a:latin typeface="Calibri"/>
              </a:rPr>
              <a:t>https://docs.ultralytics.com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300" b="1" i="0">
                <a:solidFill>
                  <a:srgbClr val="202020"/>
                </a:solidFill>
                <a:latin typeface="Calibri"/>
              </a:rPr>
              <a:t>OpenCV — Video Processing: </a:t>
            </a:r>
            <a:r>
              <a:rPr sz="1300" b="0" i="0">
                <a:solidFill>
                  <a:srgbClr val="0563C1"/>
                </a:solidFill>
                <a:latin typeface="Calibri"/>
              </a:rPr>
              <a:t>https://opencv.org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300" b="1" i="0">
                <a:solidFill>
                  <a:srgbClr val="202020"/>
                </a:solidFill>
                <a:latin typeface="Calibri"/>
              </a:rPr>
              <a:t>MediaMTX — RTSP Media Streaming: </a:t>
            </a:r>
            <a:r>
              <a:rPr sz="1300" b="0" i="0">
                <a:solidFill>
                  <a:srgbClr val="0563C1"/>
                </a:solidFill>
                <a:latin typeface="Calibri"/>
              </a:rPr>
              <a:t>https://github.com/bluenviron/mediamtx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300" b="1" i="0">
                <a:solidFill>
                  <a:srgbClr val="202020"/>
                </a:solidFill>
                <a:latin typeface="Calibri"/>
              </a:rPr>
              <a:t>FFmpeg — Video Streaming &amp; Processing: </a:t>
            </a:r>
            <a:r>
              <a:rPr sz="1300" b="0" i="0">
                <a:solidFill>
                  <a:srgbClr val="0563C1"/>
                </a:solidFill>
                <a:latin typeface="Calibri"/>
              </a:rPr>
              <a:t>https://ffmpeg.org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300" b="1" i="0">
                <a:solidFill>
                  <a:srgbClr val="202020"/>
                </a:solidFill>
                <a:latin typeface="Calibri"/>
              </a:rPr>
              <a:t>PostgreSQL + PostGIS — Geospatial Intelligence: </a:t>
            </a:r>
            <a:r>
              <a:rPr sz="1300" b="0" i="0">
                <a:solidFill>
                  <a:srgbClr val="0563C1"/>
                </a:solidFill>
                <a:latin typeface="Calibri"/>
              </a:rPr>
              <a:t>https://postgis.net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300" b="1" i="0">
                <a:solidFill>
                  <a:srgbClr val="202020"/>
                </a:solidFill>
                <a:latin typeface="Calibri"/>
              </a:rPr>
              <a:t>OpenStreetMap / MapLibre — Map Data &amp; Rendering: </a:t>
            </a:r>
            <a:r>
              <a:rPr sz="1300" b="0" i="0">
                <a:solidFill>
                  <a:srgbClr val="0563C1"/>
                </a:solidFill>
                <a:latin typeface="Calibri"/>
              </a:rPr>
              <a:t>https://www.openstreetmap.org  |  https://maplibre.org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02020"/>
                </a:solidFill>
                <a:latin typeface="Calibri"/>
              </a:rPr>
              <a:t>• </a:t>
            </a:r>
            <a:r>
              <a:rPr sz="1300" b="0" i="0">
                <a:solidFill>
                  <a:srgbClr val="202020"/>
                </a:solidFill>
                <a:latin typeface="Calibri"/>
              </a:rPr>
              <a:t>Smart City Surveillance &amp; Sensing research and Road Damage Detection datasets (RDD2022, crowdsourced road-imagery benchmarks).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6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492240"/>
            <a:ext cx="12191695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SMART INDIA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34747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